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六项清单均值</c:v>
                </c:pt>
              </c:strCache>
            </c:strRef>
          </c:tx>
          <c:spPr>
            <a:solidFill>
              <a:srgbClr val="008086"/>
            </a:solidFill>
            <a:effectLst/>
          </c:spPr>
          <c:invertIfNegative val="0"/>
          <c:dLbls>
            <c:numFmt formatCode="#,##0.######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2B43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前测</c:v>
                  </c:pt>
                  <c:pt idx="1">
                    <c:v>三个月后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1.6</c:v>
                </c:pt>
                <c:pt idx="1">
                  <c:v>2.2</c:v>
                </c:pt>
              </c:numCache>
            </c:numRef>
          </c:val>
        </c:ser>
        <c:dLbls>
          <c:numFmt formatCode="#,##0.########" sourceLinked="0"/>
          <c:txPr>
            <a:bodyPr/>
            <a:lstStyle/>
            <a:p>
              <a:pPr>
                <a:defRPr b="0" i="0" strike="noStrike" sz="1200" u="none">
                  <a:solidFill>
                    <a:srgbClr val="122B43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22B43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2B43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122B4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22B43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2B43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开源软件使用人数</c:v>
                </c:pt>
              </c:strCache>
            </c:strRef>
          </c:tx>
          <c:spPr>
            <a:solidFill>
              <a:srgbClr val="008086"/>
            </a:solidFill>
            <a:effectLst/>
          </c:spPr>
          <c:invertIfNegative val="0"/>
          <c:dLbls>
            <c:numFmt formatCode="#,##0.######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2B43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前测 n=14</c:v>
                  </c:pt>
                  <c:pt idx="1">
                    <c:v>后测 n=12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10</c:v>
                </c:pt>
              </c:numCache>
            </c:numRef>
          </c:val>
        </c:ser>
        <c:dLbls>
          <c:numFmt formatCode="#,##0.########" sourceLinked="0"/>
          <c:txPr>
            <a:bodyPr/>
            <a:lstStyle/>
            <a:p>
              <a:pPr>
                <a:defRPr b="0" i="0" strike="noStrike" sz="1200" u="none">
                  <a:solidFill>
                    <a:srgbClr val="122B43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22B43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2B43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122B4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22B43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2B43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计算可复现性工作坊：研究汇报
来源：Deardorff et al., PLOS ONE 2020；本稿为待审候选。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研究问题与汇报范围
来源：Deardorff et al., PLOS ONE 2020；本稿为待审候选。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研究方法与时间点
来源：Deardorff et al., PLOS ONE 2020；本稿为待审候选。
[sample] https://doi.org/10.1371/journal.pone.0230697 ; https://doi.org/10.1371/journal.pone.0230697 · PDF 1 methods ; PDF 5 sample
工作坊前访谈 14 人，三个月后完成访谈 12 人；两时点分母不同。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参与者与证据路径
预设布局失败：现稿主要依赖两张抽象图片，未把三步证据路径明确标为可编辑的原生流程对象；布局审阅要求重做这一页。
[illustration] local:asset-rights.json ; local:asset-rights.json · P0-13-IMG-07 ; P0-13-IMG-08
第 4 页两张自制示意图不是论文测量数据，权利来自本包声明。
Image [participant-illustration]: WisWork 自制示意图 07; license: owned; alt text: 自制示意图 07；非研究测量数据
Image [second-illustration]: WisWork self-authored schematic 8; not research measurement data; license: owned; alt text: 自制示意图 08；非研究测量数据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六项清单均值
来源：Deardorff et al., PLOS ONE 2020；本稿为待审候选。
[score] https://doi.org/10.1371/journal.pone.0230697 · PDF 5 checklist
六项清单均值从 1.6/6 到 2.2/6，p=0.318，未达统计显著。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开源软件使用：不同分母
来源：Deardorff et al., PLOS ONE 2020；本稿为待审候选。
[open-source] https://doi.org/10.1371/journal.pone.0230697 ; https://doi.org/10.1371/journal.pone.0230697 · PDF 5 Table 1 ; PDF 5 sample
开源软件使用人数前测 7/14、后测 10/12；分母不同。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解释边界与局限
来源：Deardorff et al., PLOS ONE 2020；本稿为待审候选。
[limitations] https://doi.org/10.1371/journal.pone.0230697 · PDF 9 limitations
小样本、招募与应答偏差、单人编码和统计功效不足限制推断。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结论与后续审阅
来源：Deardorff et al., PLOS ONE 2020；本稿为待审候选。
[limitations] https://doi.org/10.1371/journal.pone.0230697 · PDF 9 limitations
小样本、招募与应答偏差、单人编码和统计功效不足限制推断。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计算可复现性工作坊：研究汇报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777240" y="164592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Deardorff 等，PLOS ONE 2020。此稿是现稿修改路径对照，研究主张仍待科研审阅。</a:t>
            </a:r>
            <a:endParaRPr lang="en-US" sz="1900" dirty="0"/>
          </a:p>
        </p:txBody>
      </p:sp>
      <p:sp>
        <p:nvSpPr>
          <p:cNvPr id="4" name="source"/>
          <p:cNvSpPr/>
          <p:nvPr/>
        </p:nvSpPr>
        <p:spPr>
          <a:xfrm>
            <a:off x="77724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et al., PLOS ONE 2020；待科研审阅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研究问题与汇报范围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777240" y="164592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研究关注编程工作坊与生物医学工作流程的计算可重复性；观察变化不等于因果证明。</a:t>
            </a:r>
            <a:endParaRPr lang="en-US" sz="1900" dirty="0"/>
          </a:p>
        </p:txBody>
      </p:sp>
      <p:sp>
        <p:nvSpPr>
          <p:cNvPr id="4" name="source"/>
          <p:cNvSpPr/>
          <p:nvPr/>
        </p:nvSpPr>
        <p:spPr>
          <a:xfrm>
            <a:off x="77724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et al., PLOS ONE 2020；待科研审阅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研究方法与时间点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777240" y="164592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工作坊前访谈 14 人，三个月后有 12 人完成后访谈；两时点分母不同。</a:t>
            </a:r>
            <a:endParaRPr lang="en-US" sz="1900" dirty="0"/>
          </a:p>
        </p:txBody>
      </p:sp>
      <p:sp>
        <p:nvSpPr>
          <p:cNvPr id="4" name="source"/>
          <p:cNvSpPr/>
          <p:nvPr/>
        </p:nvSpPr>
        <p:spPr>
          <a:xfrm>
            <a:off x="77724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et al., PLOS ONE 2020；待科研审阅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[sample] https://doi.org/10.1371/journal.pone.0230697 ; https://doi.org/10.1371/journal.pone.0230697 · PDF 1 methods ; PDF 5 sample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参与者与证据路径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777240" y="1645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两张自制示意图仅用于说明研究背景，尚未构成明确的可编辑三步证据路径。</a:t>
            </a:r>
            <a:endParaRPr lang="en-US" sz="1900" dirty="0"/>
          </a:p>
        </p:txBody>
      </p:sp>
      <p:sp>
        <p:nvSpPr>
          <p:cNvPr id="4" name="source"/>
          <p:cNvSpPr/>
          <p:nvPr/>
        </p:nvSpPr>
        <p:spPr>
          <a:xfrm>
            <a:off x="77724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et al., PLOS ONE 2020；待科研审阅</a:t>
            </a:r>
            <a:endParaRPr lang="en-US" sz="900" dirty="0"/>
          </a:p>
        </p:txBody>
      </p:sp>
      <p:pic>
        <p:nvPicPr>
          <p:cNvPr id="5" name="left-image" descr="自制示意图 07；非研究测量数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0" y="2743200"/>
            <a:ext cx="3738880" cy="2103120"/>
          </a:xfrm>
          <a:prstGeom prst="rect">
            <a:avLst/>
          </a:prstGeom>
        </p:spPr>
      </p:pic>
      <p:pic>
        <p:nvPicPr>
          <p:cNvPr id="6" name="right-image" descr="自制示意图 08；非研究测量数据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520" y="2743200"/>
            <a:ext cx="3738880" cy="2103120"/>
          </a:xfrm>
          <a:prstGeom prst="rect">
            <a:avLst/>
          </a:prstGeom>
        </p:spPr>
      </p:pic>
      <p:sp>
        <p:nvSpPr>
          <p:cNvPr id="7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[illustration] local:asset-rights.json ; local:asset-rights.json · P0-13-IMG-07 ; P0-13-IMG-08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六项清单均值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777240" y="164592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六项清单平均分从 1.6/6 到 2.2/6；论文报告 p=0.318，未达统计显著。</a:t>
            </a:r>
            <a:endParaRPr lang="en-US" sz="1900" dirty="0"/>
          </a:p>
        </p:txBody>
      </p:sp>
      <p:sp>
        <p:nvSpPr>
          <p:cNvPr id="4" name="source"/>
          <p:cNvSpPr/>
          <p:nvPr/>
        </p:nvSpPr>
        <p:spPr>
          <a:xfrm>
            <a:off x="77724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et al., PLOS ONE 2020；待科研审阅</a:t>
            </a:r>
            <a:endParaRPr lang="en-US" sz="900" dirty="0"/>
          </a:p>
        </p:txBody>
      </p:sp>
      <p:graphicFrame>
        <p:nvGraphicFramePr>
          <p:cNvPr id="5" name="checklist-chart" descr=""/>
          <p:cNvGraphicFramePr/>
          <p:nvPr/>
        </p:nvGraphicFramePr>
        <p:xfrm>
          <a:off x="914400" y="3657600"/>
          <a:ext cx="9144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[score] https://doi.org/10.1371/journal.pone.0230697 · PDF 5 checklist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开源软件使用：不同分母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777240" y="164592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Table 1：开源软件使用计数前测 7/14，后测 10/12，不能将计数差视作同一人的逐个变化。</a:t>
            </a:r>
            <a:endParaRPr lang="en-US" sz="1900" dirty="0"/>
          </a:p>
        </p:txBody>
      </p:sp>
      <p:sp>
        <p:nvSpPr>
          <p:cNvPr id="4" name="source"/>
          <p:cNvSpPr/>
          <p:nvPr/>
        </p:nvSpPr>
        <p:spPr>
          <a:xfrm>
            <a:off x="77724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et al., PLOS ONE 2020；待科研审阅</a:t>
            </a:r>
            <a:endParaRPr lang="en-US" sz="900" dirty="0"/>
          </a:p>
        </p:txBody>
      </p:sp>
      <p:graphicFrame>
        <p:nvGraphicFramePr>
          <p:cNvPr id="5" name="software-chart" descr=""/>
          <p:cNvGraphicFramePr/>
          <p:nvPr/>
        </p:nvGraphicFramePr>
        <p:xfrm>
          <a:off x="914400" y="3657600"/>
          <a:ext cx="9144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[open-source] https://doi.org/10.1371/journal.pone.0230697 ; https://doi.org/10.1371/journal.pone.0230697 · PDF 5 Table 1 ; PDF 5 sample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解释边界与局限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777240" y="164592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小样本、招募或应答偏差、单人编码及统计功效不足限制了推断。</a:t>
            </a:r>
            <a:endParaRPr lang="en-US" sz="1900" dirty="0"/>
          </a:p>
        </p:txBody>
      </p:sp>
      <p:sp>
        <p:nvSpPr>
          <p:cNvPr id="4" name="source"/>
          <p:cNvSpPr/>
          <p:nvPr/>
        </p:nvSpPr>
        <p:spPr>
          <a:xfrm>
            <a:off x="77724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et al., PLOS ONE 2020；待科研审阅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[limitations] https://doi.org/10.1371/journal.pone.0230697 · PDF 9 limitations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结论与后续审阅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777240" y="164592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结论和局限并列；科研审阅与真实 PowerPoint 验收尚未完成。</a:t>
            </a:r>
            <a:endParaRPr lang="en-US" sz="1900" dirty="0"/>
          </a:p>
        </p:txBody>
      </p:sp>
      <p:sp>
        <p:nvSpPr>
          <p:cNvPr id="4" name="source"/>
          <p:cNvSpPr/>
          <p:nvPr/>
        </p:nvSpPr>
        <p:spPr>
          <a:xfrm>
            <a:off x="77724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et al., PLOS ONE 2020；待科研审阅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[limitations] https://doi.org/10.1371/journal.pone.0230697 · PDF 9 limitations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计算可复现性研究：失败页单独重做候选</dc:title>
  <dc:subject>p0-18-parent-candidate</dc:subject>
  <dc:creator>WisWork</dc:creator>
  <cp:lastModifiedBy>WisWork</cp:lastModifiedBy>
  <cp:revision>1</cp:revision>
  <dcterms:created xsi:type="dcterms:W3CDTF">2026-10-01T05:47:22Z</dcterms:created>
  <dcterms:modified xsi:type="dcterms:W3CDTF">2026-10-01T05:47:22Z</dcterms:modified>
</cp:coreProperties>
</file>