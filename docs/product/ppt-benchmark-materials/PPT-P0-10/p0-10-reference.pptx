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阅读范围、版本与不确定性
对象是2019年SROCC科学评估，当前原件为2022年出版版；文献接收截止2019-05-15，不代表2026最新知识。
严格区分证据/一致性形成的置信度与概率性似然；“很可能”通常为90–100%概率，不能把“高置信度”换算为同一概率。
本稿限定8页自制摘要，完整全文仍可从外部原件核查；范围尚待专业审阅者确认。
限定：不覆盖全文所有章节/地区/最新研究；不作地区工程设计建议。
PDF 9（印刷ix）序言范围；PDF 14（印刷4）导言脚注3/6
全文见 https://www.ipcc.ch/site/assets/uploads/sites/3/2022/03/SROCC_FullReport_FINAL.pdf；候选摘要，范围未经人工确认，专业、版权及 PowerPoint 宿主验收待完成。
[p01-claim1] attachment:cadeefed4b0f0627384b6b7f3730afc729570270b8794b71759f9dc6511a36b2 ; attachment:cadeefed4b0f0627384b6b7f3730afc729570270b8794b71759f9dc6511a36b2 · 第 9 页 ; 第 14 页
对象是2019年SROCC科学评估，当前原件为2022年出版版；文献接收截止2019-05-15，不代表2026最新知识。；严格区分证据/一致性形成的置信度与概率性似然；“很可能”通常为90–100%概率，不能把“高置信度”换算为同一概率。；本稿限定8页自制摘要，完整全文仍可从外部原件核查；范围尚待专业审阅者确认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高山与冰冻圈：观测口径先行
2006–2015年，格陵兰和南极之外全球冰川年均质量损失220 ± 30 Gt/yr；不是仅高山地区的单独估计。
原报告给出的海平面等效贡献为0.61 ± 0.08 mm/yr；原始±范围保留，不改写为标准误或某个置信区间。
高山多数地区积雪深度、范围和持续时间减少（高置信度）；冰川退缩与冻土融化涉及坡面稳定性及局地风险。
限定：全球冰川值不可冒充每一个山地系统；积雪与冰川指标、样本、期间不同。
PDF 16（印刷6）SPM A.1.1–A.1.3；深读第2章PDF143（印刷133）起执行摘要
全文见 https://www.ipcc.ch/site/assets/uploads/sites/3/2022/03/SROCC_FullReport_FINAL.pdf；候选摘要，范围未经人工确认，专业、版权及 PowerPoint 宿主验收待完成。
[p02-claim1] attachment:cadeefed4b0f0627384b6b7f3730afc729570270b8794b71759f9dc6511a36b2 · 第 16 页
2006–2015年，格陵兰和南极之外全球冰川年均质量损失220 ± 30 Gt/yr；不是仅高山地区的单独估计。；原报告给出的海平面等效贡献为0.61 ± 0.08 mm/yr；原始±范围保留，不改写为标准误或某个置信区间。；高山多数地区积雪深度、范围和持续时间减少（高置信度）；冰川退缩与冻土融化涉及坡面稳定性及局地风险。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极地：北极与南极不能互相代替
1979–2018年北极9月海冰面积减少12.8 ± 2.3%/十年（很可能）；不是年率。
同一期间南极海冰总体没有统计显著趋势（高置信度），原报告解释涉及区域信号相反及较大年际变化。
冰盖、海冰和永久冻土是不同指标；不能以海冰面积趋势替代冰盖质量变化。
限定：时间范围固定1979–2018；不能从这些摘要推断所有极地区域或当前年份状态。
PDF16（印刷6）SPM A.1.4；深读第3章PDF215（印刷205）起执行摘要
全文见 https://www.ipcc.ch/site/assets/uploads/sites/3/2022/03/SROCC_FullReport_FINAL.pdf；候选摘要，范围未经人工确认，专业、版权及 PowerPoint 宿主验收待完成。
[p03-claim1] attachment:cadeefed4b0f0627384b6b7f3730afc729570270b8794b71759f9dc6511a36b2 · 第 16 页
1979–2018年北极9月海冰面积减少12.8 ± 2.3%/十年（很可能）；不是年率。；同一期间南极海冰总体没有统计显著趋势（高置信度），原报告解释涉及区域信号相反及较大年际变化。；冰盖、海冰和永久冻土是不同指标；不能以海冰面积趋势替代冰盖质量变化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海平面：观测率与2100年投影分开
2006–2015全球平均海平面上升率3.6 mm/yr；原很可能范围3.1–4.1 mm/yr。
相对1986–2005，2100年RCP2.6投影0.43 m（可能范围0.29–0.59），RCP8.5为0.84 m（0.61–1.10）。
2100年终点值不同于2081–2100平均值；情景不是预测概率，世纪末不确定性主要涉及冰盖，尤其南极。
限定：全球均值不是当地相对海平面；须考虑区域差异、地面沉降和局地暴露。
PDF20（印刷10）SPM A.3.1；PDF30（印刷20）B.3.1/B.3.2；第4章PDF333（印刷323）起
全文见 https://www.ipcc.ch/site/assets/uploads/sites/3/2022/03/SROCC_FullReport_FINAL.pdf；候选摘要，范围未经人工确认，专业、版权及 PowerPoint 宿主验收待完成。
[p04-claim1] attachment:cadeefed4b0f0627384b6b7f3730afc729570270b8794b71759f9dc6511a36b2 ; attachment:cadeefed4b0f0627384b6b7f3730afc729570270b8794b71759f9dc6511a36b2 · 第 20 页 ; 第 30 页
2006–2015全球平均海平面上升率3.6 mm/yr；原很可能范围3.1–4.1 mm/yr。；相对1986–2005，2100年RCP2.6投影0.43 m（可能范围0.29–0.59），RCP8.5为0.84 m（0.61–1.10）。；2100年终点值不同于2081–2100平均值；情景不是预测概率，世纪末不确定性主要涉及冰盖，尤其南极。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海洋：热、酸化与缺氧各保留口径
自1970年以来全球海洋持续变暖，吸收气候系统超过90%的多余热量（高置信度）；不可当作某一海盆份额。
1970–2010资料显示开阔海洋上部1000 m氧含量下降0.5–3.3%（很可能范围）；层结、通风及生物地球化学均有关。
海洋变暖、酸化和缺氧可共同影响生态系统；本稿不以单一物理量推出某一地区渔获或物种损失。
限定：热量、pH和氧含量期间及单位不同，不共用数值轴，不补造跨指标合成指数。
PDF19（印刷9）SPM A.2/A.2.5；PDF20（印刷10）A.2.6；第5章PDF460（印刷450）起
全文见 https://www.ipcc.ch/site/assets/uploads/sites/3/2022/03/SROCC_FullReport_FINAL.pdf；候选摘要，范围未经人工确认，专业、版权及 PowerPoint 宿主验收待完成。
[p05-claim1] attachment:cadeefed4b0f0627384b6b7f3730afc729570270b8794b71759f9dc6511a36b2 ; attachment:cadeefed4b0f0627384b6b7f3730afc729570270b8794b71759f9dc6511a36b2 · 第 19 页 ; 第 20 页
自1970年以来全球海洋持续变暖，吸收气候系统超过90%的多余热量（高置信度）；不可当作某一海盆份额。；1970–2010资料显示开阔海洋上部1000 m氧含量下降0.5–3.3%（很可能范围）；层结、通风及生物地球化学均有关。；海洋变暖、酸化和缺氧可共同影响生态系统；本稿不以单一物理量推出某一地区渔获或物种损失。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极端事件：保留情景、暴露和低置信度
海洋热浪频率自1982年以来翻倍（很可能）；须保留报告对热浪定义和参考资料的限定。
历史约百年一遇的海水位事件，在多数地点到2100年各RCP情景下至少每年出现一次（高置信度）；不等同于所有地点2050年都如此。
升温2°C条件下热带气旋平均强度、4/5级比例及相关降雨预计增加（中等置信度）；全球未来气旋频率变化仍为低置信度。
限定：局地影响还依赖暴露、脆弱性、潮汐与波浪；不能用极端水位频率替代灾损预测。
PDF19（印刷9）A.2.3；PDF30（印刷20）B.3.4；PDF31（印刷21）B.3.6；第6章PDF601（印刷591）起
全文见 https://www.ipcc.ch/site/assets/uploads/sites/3/2022/03/SROCC_FullReport_FINAL.pdf；候选摘要，范围未经人工确认，专业、版权及 PowerPoint 宿主验收待完成。
[p06-claim1] attachment:cadeefed4b0f0627384b6b7f3730afc729570270b8794b71759f9dc6511a36b2 ; attachment:cadeefed4b0f0627384b6b7f3730afc729570270b8794b71759f9dc6511a36b2 ; attachment:cadeefed4b0f0627384b6b7f3730afc729570270b8794b71759f9dc6511a36b2 · 第 19 页 ; 第 30 页 ; 第 31 页
海洋热浪频率自1982年以来翻倍（很可能）；须保留报告对热浪定义和参考资料的限定。；历史约百年一遇的海水位事件，在多数地点到2100年各RCP情景下至少每年出现一次（高置信度）；不等同于所有地点2050年都如此。；升温2°C条件下热带气旋平均强度、4/5级比例及相关降雨预计增加（中等置信度）；全球未来气旋频率变化仍为低置信度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数值对照：原期间、单位与范围不丢失
同为2006–2015年年均质量损失：格陵兰（包括外围冰川）278 ± 11；南极155 ± 19；二者之外冰川220 ± 30 Gt/yr。
这些是三个不同对象的原报告估计；不从中央值建立“未来风险排名”，不去掉不确定性。
原脚注给出360 Gt冰质量对应1 mm全球平均海平面；220/360 = 0.6111111111111112 mm/yr，只是算术量级核对，原报告仍保留0.61 ± 0.08。
限定：不独立重估误差传播，不把算术复现或简单差值称为气候归因或事实认证。
PDF16（印刷6）A.1.1/脚注9–10；2100投影另见PDF30 B.3.1
全文见 https://www.ipcc.ch/site/assets/uploads/sites/3/2022/03/SROCC_FullReport_FINAL.pdf；候选摘要，范围未经人工确认，专业、版权及 PowerPoint 宿主验收待完成。
[p07-claim1] attachment:cadeefed4b0f0627384b6b7f3730afc729570270b8794b71759f9dc6511a36b2 ; attachment:cadeefed4b0f0627384b6b7f3730afc729570270b8794b71759f9dc6511a36b2 · 第 16 页 ; 第 30 页
同为2006–2015年年均质量损失：格陵兰（包括外围冰川）278 ± 11；南极155 ± 19；二者之外冰川220 ± 30 Gt/yr。；这些是三个不同对象的原报告估计；不从中央值建立“未来风险排名”，不去掉不确定性。；原脚注给出360 Gt冰质量对应1 mm全球平均海平面；220/360 = 0.6111111111111112 mm/yr，只是算术量级核对，原报告仍保留0.61 ± 0.08。
[ice-conversion] attachment:cadeefed4b0f0627384b6b7f3730afc729570270b8794b71759f9dc6511a36b2 · 第 16 页
220/360 = 0.6111111111111112 mm/yr；仅算术量级核对，不复现气候估计不确定性。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适应、限制及完整原文索引
生态系统保护/恢复等响应可在当地降低风险，但有生态、财政、制度与治理约束；部分选项仅在较低升温下有效（高置信度）。
海岸响应组合可包括防护、适应性设施、生态系统响应、向海拓展和退让，须权衡具体情境中的成本、收益与取舍（高置信度）。
不能称这些选项必然有效，也不推出应采用单一全国方案。全文PDF766页在外部路径，章节索引与逐页位置可供审阅者深入核查。
限定：科研内容/版权/版面仍待专业审阅；真实PowerPoint导入、编辑、保存重开及耗时仍未验收。
PDF40（印刷30）SPM C.2；PDF41（印刷31）C.3/C.3.1–C.3.4
全文见 https://www.ipcc.ch/site/assets/uploads/sites/3/2022/03/SROCC_FullReport_FINAL.pdf；候选摘要，范围未经人工确认，专业、版权及 PowerPoint 宿主验收待完成。
[p08-claim1] attachment:cadeefed4b0f0627384b6b7f3730afc729570270b8794b71759f9dc6511a36b2 ; attachment:cadeefed4b0f0627384b6b7f3730afc729570270b8794b71759f9dc6511a36b2 · 第 40 页 ; 第 41 页
生态系统保护/恢复等响应可在当地降低风险，但有生态、财政、制度与治理约束；部分选项仅在较低升温下有效（高置信度）。；海岸响应组合可包括防护、适应性设施、生态系统响应、向海拓展和退让，须权衡具体情境中的成本、收益与取舍（高置信度）。；不能称这些选项必然有效，也不推出应采用单一全国方案。全文PDF766页在外部路径，章节索引与逐页位置可供审阅者深入核查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阅读范围、版本与不确定性</a:t>
            </a:r>
            <a:endParaRPr lang="en-US" sz="2500" dirty="0"/>
          </a:p>
        </p:txBody>
      </p:sp>
      <p:sp>
        <p:nvSpPr>
          <p:cNvPr id="3" name="summary-0"/>
          <p:cNvSpPr/>
          <p:nvPr/>
        </p:nvSpPr>
        <p:spPr>
          <a:xfrm>
            <a:off x="777240" y="12344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对象是2019年SROCC科学评估，当前原件为2022年出版版；文献接收截止2019-05-15，不代表2026最新知识。</a:t>
            </a:r>
            <a:endParaRPr lang="en-US" sz="1800" dirty="0"/>
          </a:p>
        </p:txBody>
      </p:sp>
      <p:sp>
        <p:nvSpPr>
          <p:cNvPr id="4" name="summary-1"/>
          <p:cNvSpPr/>
          <p:nvPr/>
        </p:nvSpPr>
        <p:spPr>
          <a:xfrm>
            <a:off x="777240" y="225856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严格区分证据/一致性形成的置信度与概率性似然；“很可能”通常为90–100%概率，不能把“高置信度”换算为同一概率。</a:t>
            </a:r>
            <a:endParaRPr lang="en-US" sz="1800" dirty="0"/>
          </a:p>
        </p:txBody>
      </p:sp>
      <p:sp>
        <p:nvSpPr>
          <p:cNvPr id="5" name="summary-2"/>
          <p:cNvSpPr/>
          <p:nvPr/>
        </p:nvSpPr>
        <p:spPr>
          <a:xfrm>
            <a:off x="777240" y="3282696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本稿限定8页自制摘要，完整全文仍可从外部原件核查；范围尚待专业审阅者确认。</a:t>
            </a:r>
            <a:endParaRPr lang="en-US" sz="1800" dirty="0"/>
          </a:p>
        </p:txBody>
      </p:sp>
      <p:sp>
        <p:nvSpPr>
          <p:cNvPr id="6" name="limitations"/>
          <p:cNvSpPr/>
          <p:nvPr/>
        </p:nvSpPr>
        <p:spPr>
          <a:xfrm>
            <a:off x="777240" y="44348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限定与下一步：不覆盖全文所有章节/地区/最新研究；不作地区工程设计建议。</a:t>
            </a:r>
            <a:endParaRPr lang="en-US" sz="1500" dirty="0"/>
          </a:p>
        </p:txBody>
      </p:sp>
      <p:sp>
        <p:nvSpPr>
          <p:cNvPr id="7" name="source"/>
          <p:cNvSpPr/>
          <p:nvPr/>
        </p:nvSpPr>
        <p:spPr>
          <a:xfrm>
            <a:off x="777240" y="576072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9（印刷ix）序言范围；PDF 14（印刷4）导言脚注3/6</a:t>
            </a:r>
            <a:endParaRPr lang="en-US" sz="1000" dirty="0"/>
          </a:p>
        </p:txBody>
      </p:sp>
      <p:sp>
        <p:nvSpPr>
          <p:cNvPr id="8" name="status"/>
          <p:cNvSpPr/>
          <p:nvPr/>
        </p:nvSpPr>
        <p:spPr>
          <a:xfrm>
            <a:off x="777240" y="609904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1/8 · 自制候选摘要 · 专业/版权/人工范围/宿主验收未完成</a:t>
            </a:r>
            <a:endParaRPr lang="en-US" sz="900" dirty="0"/>
          </a:p>
        </p:txBody>
      </p:sp>
      <p:sp>
        <p:nvSpPr>
          <p:cNvPr id="9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[p01-claim1] attachment:cadeefed4b0f0627384b6b7f3730afc729570270b8794b71759f9dc6511a36b2 ; attachment:cadeefed4b0f0627384b6b7f3730afc729570270b8794b71759f9dc6511a36b2 · 第 9 页 ; 第 14 页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高山与冰冻圈：观测口径先行</a:t>
            </a:r>
            <a:endParaRPr lang="en-US" sz="2500" dirty="0"/>
          </a:p>
        </p:txBody>
      </p:sp>
      <p:sp>
        <p:nvSpPr>
          <p:cNvPr id="3" name="summary-0"/>
          <p:cNvSpPr/>
          <p:nvPr/>
        </p:nvSpPr>
        <p:spPr>
          <a:xfrm>
            <a:off x="777240" y="12344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2006–2015年，格陵兰和南极之外全球冰川年均质量损失220 ± 30 Gt/yr；不是仅高山地区的单独估计。</a:t>
            </a:r>
            <a:endParaRPr lang="en-US" sz="1800" dirty="0"/>
          </a:p>
        </p:txBody>
      </p:sp>
      <p:sp>
        <p:nvSpPr>
          <p:cNvPr id="4" name="summary-1"/>
          <p:cNvSpPr/>
          <p:nvPr/>
        </p:nvSpPr>
        <p:spPr>
          <a:xfrm>
            <a:off x="777240" y="225856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原报告给出的海平面等效贡献为0.61 ± 0.08 mm/yr；原始±范围保留，不改写为标准误或某个置信区间。</a:t>
            </a:r>
            <a:endParaRPr lang="en-US" sz="1800" dirty="0"/>
          </a:p>
        </p:txBody>
      </p:sp>
      <p:sp>
        <p:nvSpPr>
          <p:cNvPr id="5" name="summary-2"/>
          <p:cNvSpPr/>
          <p:nvPr/>
        </p:nvSpPr>
        <p:spPr>
          <a:xfrm>
            <a:off x="777240" y="3282696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高山多数地区积雪深度、范围和持续时间减少（高置信度）；冰川退缩与冻土融化涉及坡面稳定性及局地风险。</a:t>
            </a:r>
            <a:endParaRPr lang="en-US" sz="1800" dirty="0"/>
          </a:p>
        </p:txBody>
      </p:sp>
      <p:sp>
        <p:nvSpPr>
          <p:cNvPr id="6" name="limitations"/>
          <p:cNvSpPr/>
          <p:nvPr/>
        </p:nvSpPr>
        <p:spPr>
          <a:xfrm>
            <a:off x="777240" y="44348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限定与下一步：全球冰川值不可冒充每一个山地系统；积雪与冰川指标、样本、期间不同。</a:t>
            </a:r>
            <a:endParaRPr lang="en-US" sz="1500" dirty="0"/>
          </a:p>
        </p:txBody>
      </p:sp>
      <p:sp>
        <p:nvSpPr>
          <p:cNvPr id="7" name="source"/>
          <p:cNvSpPr/>
          <p:nvPr/>
        </p:nvSpPr>
        <p:spPr>
          <a:xfrm>
            <a:off x="777240" y="576072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16（印刷6）SPM A.1.1–A.1.3；深读第2章PDF143（印刷133）起执行摘要</a:t>
            </a:r>
            <a:endParaRPr lang="en-US" sz="1000" dirty="0"/>
          </a:p>
        </p:txBody>
      </p:sp>
      <p:sp>
        <p:nvSpPr>
          <p:cNvPr id="8" name="status"/>
          <p:cNvSpPr/>
          <p:nvPr/>
        </p:nvSpPr>
        <p:spPr>
          <a:xfrm>
            <a:off x="777240" y="609904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2/8 · 自制候选摘要 · 专业/版权/人工范围/宿主验收未完成</a:t>
            </a:r>
            <a:endParaRPr lang="en-US" sz="900" dirty="0"/>
          </a:p>
        </p:txBody>
      </p:sp>
      <p:sp>
        <p:nvSpPr>
          <p:cNvPr id="9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[p02-claim1] attachment:cadeefed4b0f0627384b6b7f3730afc729570270b8794b71759f9dc6511a36b2 · 第 16 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极地：北极与南极不能互相代替</a:t>
            </a:r>
            <a:endParaRPr lang="en-US" sz="2500" dirty="0"/>
          </a:p>
        </p:txBody>
      </p:sp>
      <p:sp>
        <p:nvSpPr>
          <p:cNvPr id="3" name="summary-0"/>
          <p:cNvSpPr/>
          <p:nvPr/>
        </p:nvSpPr>
        <p:spPr>
          <a:xfrm>
            <a:off x="777240" y="12344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1979–2018年北极9月海冰面积减少12.8 ± 2.3%/十年（很可能）；不是年率。</a:t>
            </a:r>
            <a:endParaRPr lang="en-US" sz="1800" dirty="0"/>
          </a:p>
        </p:txBody>
      </p:sp>
      <p:sp>
        <p:nvSpPr>
          <p:cNvPr id="4" name="summary-1"/>
          <p:cNvSpPr/>
          <p:nvPr/>
        </p:nvSpPr>
        <p:spPr>
          <a:xfrm>
            <a:off x="777240" y="225856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同一期间南极海冰总体没有统计显著趋势（高置信度），原报告解释涉及区域信号相反及较大年际变化。</a:t>
            </a:r>
            <a:endParaRPr lang="en-US" sz="1800" dirty="0"/>
          </a:p>
        </p:txBody>
      </p:sp>
      <p:sp>
        <p:nvSpPr>
          <p:cNvPr id="5" name="summary-2"/>
          <p:cNvSpPr/>
          <p:nvPr/>
        </p:nvSpPr>
        <p:spPr>
          <a:xfrm>
            <a:off x="777240" y="3282696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冰盖、海冰和永久冻土是不同指标；不能以海冰面积趋势替代冰盖质量变化。</a:t>
            </a:r>
            <a:endParaRPr lang="en-US" sz="1800" dirty="0"/>
          </a:p>
        </p:txBody>
      </p:sp>
      <p:sp>
        <p:nvSpPr>
          <p:cNvPr id="6" name="limitations"/>
          <p:cNvSpPr/>
          <p:nvPr/>
        </p:nvSpPr>
        <p:spPr>
          <a:xfrm>
            <a:off x="777240" y="44348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限定与下一步：时间范围固定1979–2018；不能从这些摘要推断所有极地区域或当前年份状态。</a:t>
            </a:r>
            <a:endParaRPr lang="en-US" sz="1500" dirty="0"/>
          </a:p>
        </p:txBody>
      </p:sp>
      <p:sp>
        <p:nvSpPr>
          <p:cNvPr id="7" name="source"/>
          <p:cNvSpPr/>
          <p:nvPr/>
        </p:nvSpPr>
        <p:spPr>
          <a:xfrm>
            <a:off x="777240" y="576072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PDF16（印刷6）SPM A.1.4；深读第3章PDF215（印刷205）起执行摘要</a:t>
            </a:r>
            <a:endParaRPr lang="en-US" sz="1000" dirty="0"/>
          </a:p>
        </p:txBody>
      </p:sp>
      <p:sp>
        <p:nvSpPr>
          <p:cNvPr id="8" name="status"/>
          <p:cNvSpPr/>
          <p:nvPr/>
        </p:nvSpPr>
        <p:spPr>
          <a:xfrm>
            <a:off x="777240" y="609904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3/8 · 自制候选摘要 · 专业/版权/人工范围/宿主验收未完成</a:t>
            </a:r>
            <a:endParaRPr lang="en-US" sz="900" dirty="0"/>
          </a:p>
        </p:txBody>
      </p:sp>
      <p:sp>
        <p:nvSpPr>
          <p:cNvPr id="9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[p03-claim1] attachment:cadeefed4b0f0627384b6b7f3730afc729570270b8794b71759f9dc6511a36b2 · 第 16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海平面：观测率与2100年投影分开</a:t>
            </a:r>
            <a:endParaRPr lang="en-US" sz="2500" dirty="0"/>
          </a:p>
        </p:txBody>
      </p:sp>
      <p:sp>
        <p:nvSpPr>
          <p:cNvPr id="3" name="summary-0"/>
          <p:cNvSpPr/>
          <p:nvPr/>
        </p:nvSpPr>
        <p:spPr>
          <a:xfrm>
            <a:off x="777240" y="12344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2006–2015全球平均海平面上升率3.6 mm/yr；原很可能范围3.1–4.1 mm/yr。</a:t>
            </a:r>
            <a:endParaRPr lang="en-US" sz="1800" dirty="0"/>
          </a:p>
        </p:txBody>
      </p:sp>
      <p:sp>
        <p:nvSpPr>
          <p:cNvPr id="4" name="summary-1"/>
          <p:cNvSpPr/>
          <p:nvPr/>
        </p:nvSpPr>
        <p:spPr>
          <a:xfrm>
            <a:off x="777240" y="225856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相对1986–2005，2100年RCP2.6投影0.43 m（可能范围0.29–0.59），RCP8.5为0.84 m（0.61–1.10）。</a:t>
            </a:r>
            <a:endParaRPr lang="en-US" sz="1800" dirty="0"/>
          </a:p>
        </p:txBody>
      </p:sp>
      <p:sp>
        <p:nvSpPr>
          <p:cNvPr id="5" name="summary-2"/>
          <p:cNvSpPr/>
          <p:nvPr/>
        </p:nvSpPr>
        <p:spPr>
          <a:xfrm>
            <a:off x="777240" y="3282696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2100年终点值不同于2081–2100平均值；情景不是预测概率，世纪末不确定性主要涉及冰盖，尤其南极。</a:t>
            </a:r>
            <a:endParaRPr lang="en-US" sz="1800" dirty="0"/>
          </a:p>
        </p:txBody>
      </p:sp>
      <p:sp>
        <p:nvSpPr>
          <p:cNvPr id="6" name="limitations"/>
          <p:cNvSpPr/>
          <p:nvPr/>
        </p:nvSpPr>
        <p:spPr>
          <a:xfrm>
            <a:off x="777240" y="44348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限定与下一步：全球均值不是当地相对海平面；须考虑区域差异、地面沉降和局地暴露。</a:t>
            </a:r>
            <a:endParaRPr lang="en-US" sz="1500" dirty="0"/>
          </a:p>
        </p:txBody>
      </p:sp>
      <p:sp>
        <p:nvSpPr>
          <p:cNvPr id="7" name="source"/>
          <p:cNvSpPr/>
          <p:nvPr/>
        </p:nvSpPr>
        <p:spPr>
          <a:xfrm>
            <a:off x="777240" y="576072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PDF20（印刷10）SPM A.3.1；PDF30（印刷20）B.3.1/B.3.2；第4章PDF333（印刷323）起</a:t>
            </a:r>
            <a:endParaRPr lang="en-US" sz="1000" dirty="0"/>
          </a:p>
        </p:txBody>
      </p:sp>
      <p:sp>
        <p:nvSpPr>
          <p:cNvPr id="8" name="status"/>
          <p:cNvSpPr/>
          <p:nvPr/>
        </p:nvSpPr>
        <p:spPr>
          <a:xfrm>
            <a:off x="777240" y="609904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4/8 · 自制候选摘要 · 专业/版权/人工范围/宿主验收未完成</a:t>
            </a:r>
            <a:endParaRPr lang="en-US" sz="900" dirty="0"/>
          </a:p>
        </p:txBody>
      </p:sp>
      <p:sp>
        <p:nvSpPr>
          <p:cNvPr id="9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[p04-claim1] attachment:cadeefed4b0f0627384b6b7f3730afc729570270b8794b71759f9dc6511a36b2 ; attachment:cadeefed4b0f0627384b6b7f3730afc729570270b8794b71759f9dc6511a36b2 · 第 20 页 ; 第 30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海洋：热、酸化与缺氧各保留口径</a:t>
            </a:r>
            <a:endParaRPr lang="en-US" sz="2500" dirty="0"/>
          </a:p>
        </p:txBody>
      </p:sp>
      <p:sp>
        <p:nvSpPr>
          <p:cNvPr id="3" name="summary-0"/>
          <p:cNvSpPr/>
          <p:nvPr/>
        </p:nvSpPr>
        <p:spPr>
          <a:xfrm>
            <a:off x="777240" y="12344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自1970年以来全球海洋持续变暖，吸收气候系统超过90%的多余热量（高置信度）；不可当作某一海盆份额。</a:t>
            </a:r>
            <a:endParaRPr lang="en-US" sz="1800" dirty="0"/>
          </a:p>
        </p:txBody>
      </p:sp>
      <p:sp>
        <p:nvSpPr>
          <p:cNvPr id="4" name="summary-1"/>
          <p:cNvSpPr/>
          <p:nvPr/>
        </p:nvSpPr>
        <p:spPr>
          <a:xfrm>
            <a:off x="777240" y="225856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1970–2010资料显示开阔海洋上部1000 m氧含量下降0.5–3.3%（很可能范围）；层结、通风及生物地球化学均有关。</a:t>
            </a:r>
            <a:endParaRPr lang="en-US" sz="1800" dirty="0"/>
          </a:p>
        </p:txBody>
      </p:sp>
      <p:sp>
        <p:nvSpPr>
          <p:cNvPr id="5" name="summary-2"/>
          <p:cNvSpPr/>
          <p:nvPr/>
        </p:nvSpPr>
        <p:spPr>
          <a:xfrm>
            <a:off x="777240" y="3282696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海洋变暖、酸化和缺氧可共同影响生态系统；本稿不以单一物理量推出某一地区渔获或物种损失。</a:t>
            </a:r>
            <a:endParaRPr lang="en-US" sz="1800" dirty="0"/>
          </a:p>
        </p:txBody>
      </p:sp>
      <p:sp>
        <p:nvSpPr>
          <p:cNvPr id="6" name="limitations"/>
          <p:cNvSpPr/>
          <p:nvPr/>
        </p:nvSpPr>
        <p:spPr>
          <a:xfrm>
            <a:off x="777240" y="44348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限定与下一步：热量、pH和氧含量期间及单位不同，不共用数值轴，不补造跨指标合成指数。</a:t>
            </a:r>
            <a:endParaRPr lang="en-US" sz="1500" dirty="0"/>
          </a:p>
        </p:txBody>
      </p:sp>
      <p:sp>
        <p:nvSpPr>
          <p:cNvPr id="7" name="source"/>
          <p:cNvSpPr/>
          <p:nvPr/>
        </p:nvSpPr>
        <p:spPr>
          <a:xfrm>
            <a:off x="777240" y="576072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PDF19（印刷9）SPM A.2/A.2.5；PDF20（印刷10）A.2.6；第5章PDF460（印刷450）起</a:t>
            </a:r>
            <a:endParaRPr lang="en-US" sz="1000" dirty="0"/>
          </a:p>
        </p:txBody>
      </p:sp>
      <p:sp>
        <p:nvSpPr>
          <p:cNvPr id="8" name="status"/>
          <p:cNvSpPr/>
          <p:nvPr/>
        </p:nvSpPr>
        <p:spPr>
          <a:xfrm>
            <a:off x="777240" y="609904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5/8 · 自制候选摘要 · 专业/版权/人工范围/宿主验收未完成</a:t>
            </a:r>
            <a:endParaRPr lang="en-US" sz="900" dirty="0"/>
          </a:p>
        </p:txBody>
      </p:sp>
      <p:sp>
        <p:nvSpPr>
          <p:cNvPr id="9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[p05-claim1] attachment:cadeefed4b0f0627384b6b7f3730afc729570270b8794b71759f9dc6511a36b2 ; attachment:cadeefed4b0f0627384b6b7f3730afc729570270b8794b71759f9dc6511a36b2 · 第 19 页 ; 第 20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极端事件：保留情景、暴露和低置信度</a:t>
            </a:r>
            <a:endParaRPr lang="en-US" sz="2500" dirty="0"/>
          </a:p>
        </p:txBody>
      </p:sp>
      <p:sp>
        <p:nvSpPr>
          <p:cNvPr id="3" name="summary-0"/>
          <p:cNvSpPr/>
          <p:nvPr/>
        </p:nvSpPr>
        <p:spPr>
          <a:xfrm>
            <a:off x="777240" y="12344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海洋热浪频率自1982年以来翻倍（很可能）；须保留报告对热浪定义和参考资料的限定。</a:t>
            </a:r>
            <a:endParaRPr lang="en-US" sz="1800" dirty="0"/>
          </a:p>
        </p:txBody>
      </p:sp>
      <p:sp>
        <p:nvSpPr>
          <p:cNvPr id="4" name="summary-1"/>
          <p:cNvSpPr/>
          <p:nvPr/>
        </p:nvSpPr>
        <p:spPr>
          <a:xfrm>
            <a:off x="777240" y="225856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历史约百年一遇的海水位事件，在多数地点到2100年各RCP情景下至少每年出现一次（高置信度）；不等同于所有地点2050年都如此。</a:t>
            </a:r>
            <a:endParaRPr lang="en-US" sz="1800" dirty="0"/>
          </a:p>
        </p:txBody>
      </p:sp>
      <p:sp>
        <p:nvSpPr>
          <p:cNvPr id="5" name="summary-2"/>
          <p:cNvSpPr/>
          <p:nvPr/>
        </p:nvSpPr>
        <p:spPr>
          <a:xfrm>
            <a:off x="777240" y="3282696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升温2°C条件下热带气旋平均强度、4/5级比例及相关降雨预计增加（中等置信度）；全球未来气旋频率变化仍为低置信度。</a:t>
            </a:r>
            <a:endParaRPr lang="en-US" sz="1800" dirty="0"/>
          </a:p>
        </p:txBody>
      </p:sp>
      <p:sp>
        <p:nvSpPr>
          <p:cNvPr id="6" name="limitations"/>
          <p:cNvSpPr/>
          <p:nvPr/>
        </p:nvSpPr>
        <p:spPr>
          <a:xfrm>
            <a:off x="777240" y="44348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限定与下一步：局地影响还依赖暴露、脆弱性、潮汐与波浪；不能用极端水位频率替代灾损预测。</a:t>
            </a:r>
            <a:endParaRPr lang="en-US" sz="1500" dirty="0"/>
          </a:p>
        </p:txBody>
      </p:sp>
      <p:sp>
        <p:nvSpPr>
          <p:cNvPr id="7" name="source"/>
          <p:cNvSpPr/>
          <p:nvPr/>
        </p:nvSpPr>
        <p:spPr>
          <a:xfrm>
            <a:off x="777240" y="576072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PDF19（印刷9）A.2.3；PDF30（印刷20）B.3.4；PDF31（印刷21）B.3.6；第6章PDF601（印刷591）起</a:t>
            </a:r>
            <a:endParaRPr lang="en-US" sz="1000" dirty="0"/>
          </a:p>
        </p:txBody>
      </p:sp>
      <p:sp>
        <p:nvSpPr>
          <p:cNvPr id="8" name="status"/>
          <p:cNvSpPr/>
          <p:nvPr/>
        </p:nvSpPr>
        <p:spPr>
          <a:xfrm>
            <a:off x="777240" y="609904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6/8 · 自制候选摘要 · 专业/版权/人工范围/宿主验收未完成</a:t>
            </a:r>
            <a:endParaRPr lang="en-US" sz="900" dirty="0"/>
          </a:p>
        </p:txBody>
      </p:sp>
      <p:sp>
        <p:nvSpPr>
          <p:cNvPr id="9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[p06-claim1] attachment:cadeefed4b0f0627384b6b7f3730afc729570270b8794b71759f9dc6511a36b2 ; attachment:cadeefed4b0f0627384b6b7f3730afc729570270b8794b71759f9dc6511a36b2 ; attachment:cadeefed4b0f0627384b6b7f3730afc729570270b8794b71759f9dc6511a36b2 · 第 19 页 ; 第 30 页 ; 第 31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数值对照：原期间、单位与范围不丢失</a:t>
            </a:r>
            <a:endParaRPr lang="en-US" sz="2500" dirty="0"/>
          </a:p>
        </p:txBody>
      </p:sp>
      <p:sp>
        <p:nvSpPr>
          <p:cNvPr id="3" name="summary-0"/>
          <p:cNvSpPr/>
          <p:nvPr/>
        </p:nvSpPr>
        <p:spPr>
          <a:xfrm>
            <a:off x="777240" y="12344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同为2006–2015年年均质量损失：格陵兰（包括外围冰川）278 ± 11；南极155 ± 19；二者之外冰川220 ± 30 Gt/yr。</a:t>
            </a:r>
            <a:endParaRPr lang="en-US" sz="1800" dirty="0"/>
          </a:p>
        </p:txBody>
      </p:sp>
      <p:sp>
        <p:nvSpPr>
          <p:cNvPr id="4" name="summary-1"/>
          <p:cNvSpPr/>
          <p:nvPr/>
        </p:nvSpPr>
        <p:spPr>
          <a:xfrm>
            <a:off x="777240" y="225856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这些是三个不同对象的原报告估计；不从中央值建立“未来风险排名”，不去掉不确定性。</a:t>
            </a:r>
            <a:endParaRPr lang="en-US" sz="1800" dirty="0"/>
          </a:p>
        </p:txBody>
      </p:sp>
      <p:sp>
        <p:nvSpPr>
          <p:cNvPr id="5" name="summary-2"/>
          <p:cNvSpPr/>
          <p:nvPr/>
        </p:nvSpPr>
        <p:spPr>
          <a:xfrm>
            <a:off x="777240" y="3282696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原脚注给出360 Gt冰质量对应1 mm全球平均海平面；220/360 = 0.6111111111111112 mm/yr，只是算术量级核对，原报告仍保留0.61 ± 0.08。</a:t>
            </a:r>
            <a:endParaRPr lang="en-US" sz="1800" dirty="0"/>
          </a:p>
        </p:txBody>
      </p:sp>
      <p:sp>
        <p:nvSpPr>
          <p:cNvPr id="6" name="limitations"/>
          <p:cNvSpPr/>
          <p:nvPr/>
        </p:nvSpPr>
        <p:spPr>
          <a:xfrm>
            <a:off x="777240" y="44348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限定与下一步：不独立重估误差传播，不把算术复现或简单差值称为气候归因或事实认证。</a:t>
            </a:r>
            <a:endParaRPr lang="en-US" sz="1500" dirty="0"/>
          </a:p>
        </p:txBody>
      </p:sp>
      <p:sp>
        <p:nvSpPr>
          <p:cNvPr id="7" name="source"/>
          <p:cNvSpPr/>
          <p:nvPr/>
        </p:nvSpPr>
        <p:spPr>
          <a:xfrm>
            <a:off x="777240" y="576072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PDF16（印刷6）A.1.1/脚注9–10；2100投影另见PDF30 B.3.1</a:t>
            </a:r>
            <a:endParaRPr lang="en-US" sz="1000" dirty="0"/>
          </a:p>
        </p:txBody>
      </p:sp>
      <p:sp>
        <p:nvSpPr>
          <p:cNvPr id="8" name="status"/>
          <p:cNvSpPr/>
          <p:nvPr/>
        </p:nvSpPr>
        <p:spPr>
          <a:xfrm>
            <a:off x="777240" y="609904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7/8 · 自制候选摘要 · 专业/版权/人工范围/宿主验收未完成</a:t>
            </a:r>
            <a:endParaRPr lang="en-US" sz="900" dirty="0"/>
          </a:p>
        </p:txBody>
      </p:sp>
      <p:sp>
        <p:nvSpPr>
          <p:cNvPr id="9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[p07-claim1] attachment:cadeefed4b0f0627384b6b7f3730afc729570270b8794b71759f9dc6511a36b2 ; attachment:cadeefed4b0f0627384b6b7f3730afc729570270b8794b71759f9dc6511a36b2 · 第 16 页 ; 第 30 页；[ice-conversion] attachment:cadeefed4b0f0627384b6b7f3730afc729570270b8794b71759f9dc6511a36b2 · 第 16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适应、限制及完整原文索引</a:t>
            </a:r>
            <a:endParaRPr lang="en-US" sz="2500" dirty="0"/>
          </a:p>
        </p:txBody>
      </p:sp>
      <p:sp>
        <p:nvSpPr>
          <p:cNvPr id="3" name="summary-0"/>
          <p:cNvSpPr/>
          <p:nvPr/>
        </p:nvSpPr>
        <p:spPr>
          <a:xfrm>
            <a:off x="777240" y="12344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生态系统保护/恢复等响应可在当地降低风险，但有生态、财政、制度与治理约束；部分选项仅在较低升温下有效（高置信度）。</a:t>
            </a:r>
            <a:endParaRPr lang="en-US" sz="1800" dirty="0"/>
          </a:p>
        </p:txBody>
      </p:sp>
      <p:sp>
        <p:nvSpPr>
          <p:cNvPr id="4" name="summary-1"/>
          <p:cNvSpPr/>
          <p:nvPr/>
        </p:nvSpPr>
        <p:spPr>
          <a:xfrm>
            <a:off x="777240" y="225856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海岸响应组合可包括防护、适应性设施、生态系统响应、向海拓展和退让，须权衡具体情境中的成本、收益与取舍（高置信度）。</a:t>
            </a:r>
            <a:endParaRPr lang="en-US" sz="1800" dirty="0"/>
          </a:p>
        </p:txBody>
      </p:sp>
      <p:sp>
        <p:nvSpPr>
          <p:cNvPr id="5" name="summary-2"/>
          <p:cNvSpPr/>
          <p:nvPr/>
        </p:nvSpPr>
        <p:spPr>
          <a:xfrm>
            <a:off x="777240" y="3282696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不能称这些选项必然有效，也不推出应采用单一全国方案。全文PDF766页在外部路径，章节索引与逐页位置可供审阅者深入核查。</a:t>
            </a:r>
            <a:endParaRPr lang="en-US" sz="1800" dirty="0"/>
          </a:p>
        </p:txBody>
      </p:sp>
      <p:sp>
        <p:nvSpPr>
          <p:cNvPr id="6" name="limitations"/>
          <p:cNvSpPr/>
          <p:nvPr/>
        </p:nvSpPr>
        <p:spPr>
          <a:xfrm>
            <a:off x="777240" y="44348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限定与下一步：科研内容/版权/版面仍待专业审阅；真实PowerPoint导入、编辑、保存重开及耗时仍未验收。</a:t>
            </a:r>
            <a:endParaRPr lang="en-US" sz="1500" dirty="0"/>
          </a:p>
        </p:txBody>
      </p:sp>
      <p:sp>
        <p:nvSpPr>
          <p:cNvPr id="7" name="source"/>
          <p:cNvSpPr/>
          <p:nvPr/>
        </p:nvSpPr>
        <p:spPr>
          <a:xfrm>
            <a:off x="777240" y="576072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PDF40（印刷30）SPM C.2；PDF41（印刷31）C.3/C.3.1–C.3.4</a:t>
            </a:r>
            <a:endParaRPr lang="en-US" sz="1000" dirty="0"/>
          </a:p>
        </p:txBody>
      </p:sp>
      <p:sp>
        <p:nvSpPr>
          <p:cNvPr id="8" name="status"/>
          <p:cNvSpPr/>
          <p:nvPr/>
        </p:nvSpPr>
        <p:spPr>
          <a:xfrm>
            <a:off x="777240" y="609904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8/8 · 自制候选摘要 · 专业/版权/人工范围/宿主验收未完成</a:t>
            </a:r>
            <a:endParaRPr lang="en-US" sz="900" dirty="0"/>
          </a:p>
        </p:txBody>
      </p:sp>
      <p:sp>
        <p:nvSpPr>
          <p:cNvPr id="9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[p08-claim1] attachment:cadeefed4b0f0627384b6b7f3730afc729570270b8794b71759f9dc6511a36b2 ; attachment:cadeefed4b0f0627384b6b7f3730afc729570270b8794b71759f9dc6511a36b2 · 第 40 页 ; 第 41 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P0-10 SROCC 8页候选摘要（待审阅）</dc:title>
  <dc:subject>p0-10-srocc-candidate</dc:subject>
  <dc:creator>WisWork</dc:creator>
  <cp:lastModifiedBy>WisWork</cp:lastModifiedBy>
  <cp:revision>1</cp:revision>
  <dcterms:created xsi:type="dcterms:W3CDTF">2026-10-01T10:15:26Z</dcterms:created>
  <dcterms:modified xsi:type="dcterms:W3CDTF">2026-10-01T10:15:26Z</dcterms:modified>
</cp:coreProperties>
</file>