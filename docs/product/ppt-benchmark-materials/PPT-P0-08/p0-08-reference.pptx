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Net sales（百万美元）</c:v>
                </c:pt>
              </c:strCache>
            </c:strRef>
          </c:tx>
          <c:spPr>
            <a:solidFill>
              <a:srgbClr val="087D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Apple Inc.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391035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sales and financial services revenue（百万日元）</c:v>
                </c:pt>
              </c:strCache>
            </c:strRef>
          </c:tx>
          <c:spPr>
            <a:solidFill>
              <a:srgbClr val="087D8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Sony Group Corporation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13020768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Noto Sans CJK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Noto Sans CJK S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跨公司收入可比性：先核对口径
候选参考稿；Sony 官方 PDF 尚待下载，本稿未经财务审阅和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资料时点与两份年度报告
候选参考稿；Sony 官方 PDF 尚待下载，本稿未经财务审阅和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财年、准则、币种和范围矩阵
候选参考稿；Sony 官方 PDF 尚待下载，本稿未经财务审阅和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Apple：原币净销售额
候选参考稿；Sony 官方 PDF 尚待下载，本稿未经财务审阅和 PowerPoint 宿主验收。
[apple-sales] https://www.sec.gov/Archives/edgar/data/320193/000032019324000123/aapl-20240928.htm · PDF 第 32 页
Apple 净销售额 391035 百万美元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Sony：原币销售及金融服务收入
候选参考稿；Sony 官方 PDF 尚待下载，本稿未经财务审阅和 PowerPoint 宿主验收。
[sony-sales] https://www.sony.com/en/SonyInfo/IR/library/FY2023_20F_PDF.pdf · PDF 第 48 页
Sony 销售及金融服务收入 13020768 百万日元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Sony 汇率换算仅作示意
候选参考稿；Sony 官方 PDF 尚待下载，本稿未经财务审阅和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不可比项与留空规则
候选参考稿；Sony 官方 PDF 尚待下载，本稿未经财务审阅和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结论、审阅和宿主验收
候选参考稿；Sony 官方 PDF 尚待下载，本稿未经财务审阅和 PowerPoint 宿主验收。
Attribution supplied by the input; source accuracy and license rights have not been independently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跨公司收入可比性：先核对口径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两家公司披露的财年、会计准则和收入范围不同；本稿不作收入差额或排名。</a:t>
            </a:r>
            <a:endParaRPr lang="en-US" sz="18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参考稿；资料与专业结论待审阅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资料时点与两份年度报告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as-of 2024-11-01。Apple FY2024 为 Form 10-K；Sony FY2023 为 Form 20-F。Sony PDF 原件尚待本地冻结。</a:t>
            </a:r>
            <a:endParaRPr lang="en-US" sz="18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参考稿；资料与专业结论待审阅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财年、准则、币种和范围矩阵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Apple：2024-09-28 / US GAAP / 百万美元 / 净销售额。Sony：2024-03-31 / IFRS / 百万日元 / 销售及金融服务收入。</a:t>
            </a:r>
            <a:endParaRPr lang="en-US" sz="18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参考稿；资料与专业结论待审阅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Apple：原币净销售额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391,035 百万美元；Apple 2024 Form 10-K，PDF 第 32 页。不得与 Sony 原币图共用数值轴。</a:t>
            </a:r>
            <a:endParaRPr lang="en-US" sz="1800" dirty="0"/>
          </a:p>
        </p:txBody>
      </p:sp>
      <p:graphicFrame>
        <p:nvGraphicFramePr>
          <p:cNvPr id="4" name="apple-native-chart" descr=""/>
          <p:cNvGraphicFramePr/>
          <p:nvPr/>
        </p:nvGraphicFramePr>
        <p:xfrm>
          <a:off x="914400" y="2560320"/>
          <a:ext cx="98755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来源：Apple FY2024 Form 10-K，PDF 第 32 页</a:t>
            </a:r>
            <a:endParaRPr lang="en-US" sz="900" dirty="0"/>
          </a:p>
        </p:txBody>
      </p:sp>
      <p:sp>
        <p:nvSpPr>
          <p:cNvPr id="6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[apple-sales] https://www.sec.gov/Archives/edgar/data/320193/000032019324000123/aapl-20240928.htm · PDF 第 32 页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Sony：原币销售及金融服务收入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13,020,768 百万日元；Sony Form 20-F，PDF 第 48 页。包括金融服务收入。</a:t>
            </a:r>
            <a:endParaRPr lang="en-US" sz="1800" dirty="0"/>
          </a:p>
        </p:txBody>
      </p:sp>
      <p:graphicFrame>
        <p:nvGraphicFramePr>
          <p:cNvPr id="4" name="sony-native-chart" descr=""/>
          <p:cNvGraphicFramePr/>
          <p:nvPr/>
        </p:nvGraphicFramePr>
        <p:xfrm>
          <a:off x="914400" y="2560320"/>
          <a:ext cx="987552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来源：Sony FY2023 Form 20-F，PDF 第 48 页；原件待冻结</a:t>
            </a:r>
            <a:endParaRPr lang="en-US" sz="900" dirty="0"/>
          </a:p>
        </p:txBody>
      </p:sp>
      <p:sp>
        <p:nvSpPr>
          <p:cNvPr id="6" name="source-attribution"/>
          <p:cNvSpPr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[sony-sales] https://www.sony.com/en/SonyInfo/IR/library/FY2023_20F_PDF.pdf · PDF 第 48 页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Sony 汇率换算仅作示意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13,020,768 ÷ 144.4 = 90,171.52 百万美元。汇率为 Sony FY2023 年平均，官方报表第 24 页。</a:t>
            </a:r>
            <a:endParaRPr lang="en-US" sz="18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参考稿；资料与专业结论待审阅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不可比项与留空规则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同口径美元收入差额：空缺；跨公司收入排名：空缺。原因：财年结束日、准则及收入范围不同，货币换算不能消除差异。</a:t>
            </a:r>
            <a:endParaRPr lang="en-US" sz="18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参考稿；资料与专业结论待审阅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94360" y="4389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结论、审阅和宿主验收</a:t>
            </a:r>
            <a:endParaRPr lang="en-US" sz="2600" dirty="0"/>
          </a:p>
        </p:txBody>
      </p:sp>
      <p:sp>
        <p:nvSpPr>
          <p:cNvPr id="3" name="body"/>
          <p:cNvSpPr/>
          <p:nvPr/>
        </p:nvSpPr>
        <p:spPr>
          <a:xfrm>
            <a:off x="822960" y="1463040"/>
            <a:ext cx="10424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保留原币、原期间和原始口径；示意换算不支持相对规模结论。待 Sony 原件、本地摘要、财务审阅及真实 PowerPoint 重开编辑证据。</a:t>
            </a:r>
            <a:endParaRPr lang="en-US" sz="1800" dirty="0"/>
          </a:p>
        </p:txBody>
      </p:sp>
      <p:sp>
        <p:nvSpPr>
          <p:cNvPr id="4" name="footer"/>
          <p:cNvSpPr/>
          <p:nvPr/>
        </p:nvSpPr>
        <p:spPr>
          <a:xfrm>
            <a:off x="822960" y="635508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4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参考稿；资料与专业结论待审阅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Apple 与 Sony 跨公司可比性参考稿</dc:title>
  <dc:subject>p0-08-cross-company-comparability-reference</dc:subject>
  <dc:creator>WisWork</dc:creator>
  <cp:lastModifiedBy>WisWork</cp:lastModifiedBy>
  <cp:revision>1</cp:revision>
  <dcterms:created xsi:type="dcterms:W3CDTF">2026-09-28T13:37:22Z</dcterms:created>
  <dcterms:modified xsi:type="dcterms:W3CDTF">2026-09-28T13:37:22Z</dcterms:modified>
</cp:coreProperties>
</file>