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范围与来源
中文为待法律专业审阅的研究归纳，非官方译文；历史 as-of 2024-12-01。
Attribution supplied by the input; source accuracy and license rights have not been independently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Google：事实与程序
中文为待法律专业审阅的研究归纳，非官方译文；历史 as-of 2024-12-01。
[g-facts] https://www.supremecourt.gov/opinions/20pdf/18-956_new_0e04.pdf ; https://www.supremecourt.gov/opinions/20pdf/18-956_new_0e04.pdf · 第 5 页 ; 第 26 页
Google 案涉及 Android 对 Java 接口声明代码的重新实现；此页将事实背景与法律评价分开。
Attribution supplied by the input; source accuracy and license rights have not been independently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Google：争点与受限判断
中文为待法律专业审阅的研究归纳，非官方译文；历史 as-of 2024-12-01。
[g-question] https://www.supremecourt.gov/opinions/20pdf/18-956_new_0e04.pdf ; https://www.supremecourt.gov/opinions/20pdf/18-956_new_0e04.pdf · 第 18 页 ; 第 19 页
Google 案提出可版权性与合理使用两个争点；最高法院仅为本案分析假定 API 可版权。
[g-holding] https://www.supremecourt.gov/opinions/20pdf/18-956_new_0e04.pdf ; https://www.supremecourt.gov/opinions/20pdf/18-956_new_0e04.pdf · 第 39 页 ; 第 40 页
法院在该重新实现情境下认定合理使用，撤销并发回。
Attribution supplied by the input; source accuracy and license rights have not been independently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Warhol：事实与程序
中文为待法律专业审阅的研究归纳，非官方译文；历史 as-of 2024-12-01。
[w-facts] https://www.supremecourt.gov/opinions/22pdf/21-869_87ad.pdf ; https://www.supremecourt.gov/opinions/22pdf/21-869_87ad.pdf · 第 7 页 ; 第 18 页
Warhol 案涉及 Goldsmith 摄影作品和 Prince Series；本稿聚焦被争议的杂志许可用途。
Attribution supplied by the input; source accuracy and license rights have not been independently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Warhol：判断与明确限定
中文为待法律专业审阅的研究归纳，非官方译文；历史 as-of 2024-12-01。
[w-holding] https://www.supremecourt.gov/opinions/22pdf/21-869_87ad.pdf ; https://www.supremecourt.gov/opinions/22pdf/21-869_87ad.pdf ; https://www.supremecourt.gov/opinions/22pdf/21-869_87ad.pdf · 第 18 页 ; 第 19 页 ; 第 44 页
法院就该特定商业许可用途认定合理使用第一因素有利于 Goldsmith，并维持原判。
[w-limit] https://www.supremecourt.gov/opinions/22pdf/21-869_87ad.pdf · 第 27 页
多数意见明确不评价原 Prince Series 的创作、展示或出售。
Attribution supplied by the input; source accuracy and license rights have not been independently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两案比较矩阵
中文为待法律专业审阅的研究归纳，非官方译文；历史 as-of 2024-12-01。
[comparison] https://www.supremecourt.gov/opinions/20pdf/18-956_new_0e04.pdf ; https://www.supremecourt.gov/opinions/22pdf/21-869_87ad.pdf ; https://www.supremecourt.gov/opinions/22pdf/21-869_87ad.pdf · 第 26 页 ; 第 29 页 ; 第 27 页
两案的比较须分别核对作品性质、具体使用目的和市场关系；这是待审研究推论，不是第三案规则。
Attribution supplied by the input; source accuracy and license rights have not been independently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差异归因与不得泛化
中文为待法律专业审阅的研究归纳，非官方译文；历史 as-of 2024-12-01。
[g-question] https://www.supremecourt.gov/opinions/20pdf/18-956_new_0e04.pdf ; https://www.supremecourt.gov/opinions/20pdf/18-956_new_0e04.pdf · 第 18 页 ; 第 19 页
Google 案提出可版权性与合理使用两个争点；最高法院仅为本案分析假定 API 可版权。
[w-limit] https://www.supremecourt.gov/opinions/22pdf/21-869_87ad.pdf · 第 27 页
多数意见明确不评价原 Prince Series 的创作、展示或出售。
[comparison] https://www.supremecourt.gov/opinions/20pdf/18-956_new_0e04.pdf ; https://www.supremecourt.gov/opinions/22pdf/21-869_87ad.pdf ; https://www.supremecourt.gov/opinions/22pdf/21-869_87ad.pdf · 第 26 页 ; 第 29 页 ; 第 27 页
两案的比较须分别核对作品性质、具体使用目的和市场关系；这是待审研究推论，不是第三案规则。
Attribution supplied by the input; source accuracy and license rights have not been independently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核验与人工审阅
中文为待法律专业审阅的研究归纳，非官方译文；历史 as-of 2024-12-01。
Attribution supplied by the input; source accuracy and license rights have not been independently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范围与来源</a:t>
            </a:r>
            <a:endParaRPr lang="en-US" sz="2600" dirty="0"/>
          </a:p>
        </p:txBody>
      </p:sp>
      <p:sp>
        <p:nvSpPr>
          <p:cNvPr id="3" name="body"/>
          <p:cNvSpPr/>
          <p:nvPr/>
        </p:nvSpPr>
        <p:spPr>
          <a:xfrm>
            <a:off x="822960" y="1417320"/>
            <a:ext cx="10424160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美国联邦版权法｜历史分析截至 2024-12-01。比较 Google v. Oracle（18-956）与 Warhol v. Goldsmith（21-869）两份官方多数意见；非个案法律意见，法律专业审阅待完成。</a:t>
            </a:r>
            <a:endParaRPr lang="en-US" sz="1900" dirty="0"/>
          </a:p>
        </p:txBody>
      </p:sp>
      <p:sp>
        <p:nvSpPr>
          <p:cNvPr id="4" name="footer"/>
          <p:cNvSpPr/>
          <p:nvPr/>
        </p:nvSpPr>
        <p:spPr>
          <a:xfrm>
            <a:off x="822960" y="6062472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两份最高法院 slip opinion；官方发布不等于最终装订版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Google：事实与程序</a:t>
            </a:r>
            <a:endParaRPr lang="en-US" sz="2600" dirty="0"/>
          </a:p>
        </p:txBody>
      </p:sp>
      <p:sp>
        <p:nvSpPr>
          <p:cNvPr id="3" name="body"/>
          <p:cNvSpPr/>
          <p:nvPr/>
        </p:nvSpPr>
        <p:spPr>
          <a:xfrm>
            <a:off x="822960" y="1417320"/>
            <a:ext cx="10424160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Android 重新实现 Java 接口声明代码。先记录事实与争议对象，再看法院在此情境下的法律评价。</a:t>
            </a:r>
            <a:endParaRPr lang="en-US" sz="1900" dirty="0"/>
          </a:p>
        </p:txBody>
      </p:sp>
      <p:sp>
        <p:nvSpPr>
          <p:cNvPr id="4" name="footer"/>
          <p:cNvSpPr/>
          <p:nvPr/>
        </p:nvSpPr>
        <p:spPr>
          <a:xfrm>
            <a:off x="822960" y="6062472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Google 多数意见 PDF 5、26；事实与判断分开</a:t>
            </a:r>
            <a:endParaRPr lang="en-US" sz="900" dirty="0"/>
          </a:p>
        </p:txBody>
      </p:sp>
      <p:sp>
        <p:nvSpPr>
          <p:cNvPr id="5" name="source-attribution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[g-facts] https://www.supremecourt.gov/opinions/20pdf/18-956_new_0e04.pdf ; https://www.supremecourt.gov/opinions/20pdf/18-956_new_0e04.pdf · 第 5 页 ; 第 26 页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Google：争点与受限判断</a:t>
            </a:r>
            <a:endParaRPr lang="en-US" sz="2600" dirty="0"/>
          </a:p>
        </p:txBody>
      </p:sp>
      <p:sp>
        <p:nvSpPr>
          <p:cNvPr id="3" name="body"/>
          <p:cNvSpPr/>
          <p:nvPr/>
        </p:nvSpPr>
        <p:spPr>
          <a:xfrm>
            <a:off x="822960" y="141732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争点｜API 可版权性与合理使用。</a:t>
            </a:r>
            <a:endParaRPr lang="en-US" sz="1900" dirty="0"/>
          </a:p>
        </p:txBody>
      </p:sp>
      <p:sp>
        <p:nvSpPr>
          <p:cNvPr id="4" name="body-2"/>
          <p:cNvSpPr/>
          <p:nvPr/>
        </p:nvSpPr>
        <p:spPr>
          <a:xfrm>
            <a:off x="822960" y="256032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处理｜法院为分析假定可版权性，认定具体重新实现构成合理使用；撤销并发回。</a:t>
            </a:r>
            <a:endParaRPr lang="en-US" sz="1900" dirty="0"/>
          </a:p>
        </p:txBody>
      </p:sp>
      <p:sp>
        <p:nvSpPr>
          <p:cNvPr id="5" name="footer"/>
          <p:cNvSpPr/>
          <p:nvPr/>
        </p:nvSpPr>
        <p:spPr>
          <a:xfrm>
            <a:off x="822960" y="6062472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Google 多数意见 PDF 18–19、39–40；不概括所有 API</a:t>
            </a:r>
            <a:endParaRPr lang="en-US" sz="900" dirty="0"/>
          </a:p>
        </p:txBody>
      </p:sp>
      <p:sp>
        <p:nvSpPr>
          <p:cNvPr id="6" name="source-attribution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[g-question] https://www.supremecourt.gov/opinions/20pdf/18-956_new_0e04.pdf ; https://www.supremecourt.gov/opinions/20pdf/18-956_new_0e04.pdf · 第 18 页 ; 第 19 页；[g-holding] https://www.supremecourt.gov/opinions/20pdf/18-956_new_0e04.pdf ; https://www.supremecourt.gov/opinions/20pdf/18-956_new_0e04.pdf · 第 39 页 ; 第 40 页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Warhol：事实与程序</a:t>
            </a:r>
            <a:endParaRPr lang="en-US" sz="2600" dirty="0"/>
          </a:p>
        </p:txBody>
      </p:sp>
      <p:sp>
        <p:nvSpPr>
          <p:cNvPr id="3" name="body"/>
          <p:cNvSpPr/>
          <p:nvPr/>
        </p:nvSpPr>
        <p:spPr>
          <a:xfrm>
            <a:off x="822960" y="1417320"/>
            <a:ext cx="10424160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Goldsmith 的 Prince 摄影与 Warhol 的 Prince Series。此处聚焦被诉的杂志商业许可用途，区分作品创作与具体使用。</a:t>
            </a:r>
            <a:endParaRPr lang="en-US" sz="1900" dirty="0"/>
          </a:p>
        </p:txBody>
      </p:sp>
      <p:sp>
        <p:nvSpPr>
          <p:cNvPr id="4" name="footer"/>
          <p:cNvSpPr/>
          <p:nvPr/>
        </p:nvSpPr>
        <p:spPr>
          <a:xfrm>
            <a:off x="822960" y="6062472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Warhol 多数意见 PDF 7、18；不复用原件图像</a:t>
            </a:r>
            <a:endParaRPr lang="en-US" sz="900" dirty="0"/>
          </a:p>
        </p:txBody>
      </p:sp>
      <p:sp>
        <p:nvSpPr>
          <p:cNvPr id="5" name="source-attribution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[w-facts] https://www.supremecourt.gov/opinions/22pdf/21-869_87ad.pdf ; https://www.supremecourt.gov/opinions/22pdf/21-869_87ad.pdf · 第 7 页 ; 第 18 页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Warhol：判断与明确限定</a:t>
            </a:r>
            <a:endParaRPr lang="en-US" sz="2600" dirty="0"/>
          </a:p>
        </p:txBody>
      </p:sp>
      <p:sp>
        <p:nvSpPr>
          <p:cNvPr id="3" name="body"/>
          <p:cNvSpPr/>
          <p:nvPr/>
        </p:nvSpPr>
        <p:spPr>
          <a:xfrm>
            <a:off x="822960" y="141732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第一因素｜就该杂志许可用途有利于 Goldsmith；最高法院维持原判。</a:t>
            </a:r>
            <a:endParaRPr lang="en-US" sz="1900" dirty="0"/>
          </a:p>
        </p:txBody>
      </p:sp>
      <p:sp>
        <p:nvSpPr>
          <p:cNvPr id="4" name="body-2"/>
          <p:cNvSpPr/>
          <p:nvPr/>
        </p:nvSpPr>
        <p:spPr>
          <a:xfrm>
            <a:off x="822960" y="256032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明确限定｜多数意见不评价原系列作品的创作、展示或出售。</a:t>
            </a:r>
            <a:endParaRPr lang="en-US" sz="1900" dirty="0"/>
          </a:p>
        </p:txBody>
      </p:sp>
      <p:sp>
        <p:nvSpPr>
          <p:cNvPr id="5" name="footer"/>
          <p:cNvSpPr/>
          <p:nvPr/>
        </p:nvSpPr>
        <p:spPr>
          <a:xfrm>
            <a:off x="822960" y="6062472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Warhol 多数意见 PDF 18–19、27、44；仅本案第一因素</a:t>
            </a:r>
            <a:endParaRPr lang="en-US" sz="900" dirty="0"/>
          </a:p>
        </p:txBody>
      </p:sp>
      <p:sp>
        <p:nvSpPr>
          <p:cNvPr id="6" name="source-attribution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[w-holding] https://www.supremecourt.gov/opinions/22pdf/21-869_87ad.pdf ; https://www.supremecourt.gov/opinions/22pdf/21-869_87ad.pdf ; https://www.supremecourt.gov/opinions/22pdf/21-869_87ad.pdf · 第 18 页 ; 第 19 页 ; 第 44 页；[w-limit] https://www.supremecourt.gov/opinions/22pdf/21-869_87ad.pdf · 第 27 页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两案比较矩阵</a:t>
            </a:r>
            <a:endParaRPr lang="en-US" sz="2600" dirty="0"/>
          </a:p>
        </p:txBody>
      </p:sp>
      <p:sp>
        <p:nvSpPr>
          <p:cNvPr id="3" name="body"/>
          <p:cNvSpPr/>
          <p:nvPr/>
        </p:nvSpPr>
        <p:spPr>
          <a:xfrm>
            <a:off x="822960" y="141732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对象｜接口声明代码／摄影衍生图像</a:t>
            </a:r>
            <a:endParaRPr lang="en-US" sz="1700" dirty="0"/>
          </a:p>
        </p:txBody>
      </p:sp>
      <p:sp>
        <p:nvSpPr>
          <p:cNvPr id="4" name="body-2"/>
          <p:cNvSpPr/>
          <p:nvPr/>
        </p:nvSpPr>
        <p:spPr>
          <a:xfrm>
            <a:off x="822960" y="233172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用途｜软件重新实现／特定杂志许可</a:t>
            </a:r>
            <a:endParaRPr lang="en-US" sz="1700" dirty="0"/>
          </a:p>
        </p:txBody>
      </p:sp>
      <p:sp>
        <p:nvSpPr>
          <p:cNvPr id="5" name="body-3"/>
          <p:cNvSpPr/>
          <p:nvPr/>
        </p:nvSpPr>
        <p:spPr>
          <a:xfrm>
            <a:off x="822960" y="324612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范围｜假定可版权性后的合理使用／具体许可的第一因素</a:t>
            </a:r>
            <a:endParaRPr lang="en-US" sz="1700" dirty="0"/>
          </a:p>
        </p:txBody>
      </p:sp>
      <p:sp>
        <p:nvSpPr>
          <p:cNvPr id="6" name="body-4"/>
          <p:cNvSpPr/>
          <p:nvPr/>
        </p:nvSpPr>
        <p:spPr>
          <a:xfrm>
            <a:off x="822960" y="416052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结果｜撤销并发回／维持</a:t>
            </a:r>
            <a:endParaRPr lang="en-US" sz="1700" dirty="0"/>
          </a:p>
        </p:txBody>
      </p:sp>
      <p:sp>
        <p:nvSpPr>
          <p:cNvPr id="7" name="footer"/>
          <p:cNvSpPr/>
          <p:nvPr/>
        </p:nvSpPr>
        <p:spPr>
          <a:xfrm>
            <a:off x="822960" y="6062472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研究比较，非两案对第三案的共同裁判规则</a:t>
            </a:r>
            <a:endParaRPr lang="en-US" sz="900" dirty="0"/>
          </a:p>
        </p:txBody>
      </p:sp>
      <p:sp>
        <p:nvSpPr>
          <p:cNvPr id="8" name="source-attribution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[comparison] https://www.supremecourt.gov/opinions/20pdf/18-956_new_0e04.pdf ; https://www.supremecourt.gov/opinions/22pdf/21-869_87ad.pdf ; https://www.supremecourt.gov/opinions/22pdf/21-869_87ad.pdf · 第 26 页 ; 第 29 页 ; 第 27 页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差异归因与不得泛化</a:t>
            </a:r>
            <a:endParaRPr lang="en-US" sz="2600" dirty="0"/>
          </a:p>
        </p:txBody>
      </p:sp>
      <p:sp>
        <p:nvSpPr>
          <p:cNvPr id="3" name="body"/>
          <p:cNvSpPr/>
          <p:nvPr/>
        </p:nvSpPr>
        <p:spPr>
          <a:xfrm>
            <a:off x="822960" y="1417320"/>
            <a:ext cx="10424160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比较推论须核对作品性质、使用目的和市场关系。不得推出“所有 API 可复制”“所有改编均侵权”“商用必不合理使用”或“新含义单独决定合理使用”。</a:t>
            </a:r>
            <a:endParaRPr lang="en-US" sz="1900" dirty="0"/>
          </a:p>
        </p:txBody>
      </p:sp>
      <p:sp>
        <p:nvSpPr>
          <p:cNvPr id="4" name="footer"/>
          <p:cNvSpPr/>
          <p:nvPr/>
        </p:nvSpPr>
        <p:spPr>
          <a:xfrm>
            <a:off x="822960" y="6062472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Google PDF 26、39；Warhol PDF 27、29；法律审阅待完成</a:t>
            </a:r>
            <a:endParaRPr lang="en-US" sz="900" dirty="0"/>
          </a:p>
        </p:txBody>
      </p:sp>
      <p:sp>
        <p:nvSpPr>
          <p:cNvPr id="5" name="source-attribution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[g-question] https://www.supremecourt.gov/opinions/20pdf/18-956_new_0e04.pdf ; https://www.supremecourt.gov/opinions/20pdf/18-956_new_0e04.pdf · 第 18 页 ; 第 19 页；[w-limit] https://www.supremecourt.gov/opinions/22pdf/21-869_87ad.pdf · 第 27 页；[comparison] https://www.supremecourt.gov/opinions/20pdf/18-956_new_0e04.pdf ; https://www.supremecourt.gov/opinions/22pdf/21-869_87ad.pdf ; https://www.supremecourt.gov/opinions/22pdf/21-869_87ad.pdf · 第 26 页 ; 第 29 页 ; 第 27 页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核验与人工审阅</a:t>
            </a:r>
            <a:endParaRPr lang="en-US" sz="2600" dirty="0"/>
          </a:p>
        </p:txBody>
      </p:sp>
      <p:sp>
        <p:nvSpPr>
          <p:cNvPr id="3" name="body"/>
          <p:cNvSpPr/>
          <p:nvPr/>
        </p:nvSpPr>
        <p:spPr>
          <a:xfrm>
            <a:off x="822960" y="1417320"/>
            <a:ext cx="10424160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原件摘要、正文页码与逐字摘录已固定。须继续核对中文归纳、程序状态、隐私与图像权利、版面及真实 PowerPoint 保存重开；不得将工程产物标为专业验收通过。</a:t>
            </a:r>
            <a:endParaRPr lang="en-US" sz="1900" dirty="0"/>
          </a:p>
        </p:txBody>
      </p:sp>
      <p:sp>
        <p:nvSpPr>
          <p:cNvPr id="4" name="footer"/>
          <p:cNvSpPr/>
          <p:nvPr/>
        </p:nvSpPr>
        <p:spPr>
          <a:xfrm>
            <a:off x="822960" y="6062472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官方 PDF 原件；syllabus 与多数意见分开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最高法院版权裁判比较：候选汇报</dc:title>
  <dc:subject>p0-05-copyright-case-comparison-reference</dc:subject>
  <dc:creator>WisWork</dc:creator>
  <cp:lastModifiedBy>WisWork</cp:lastModifiedBy>
  <cp:revision>1</cp:revision>
  <dcterms:created xsi:type="dcterms:W3CDTF">2026-10-01T03:23:07Z</dcterms:created>
  <dcterms:modified xsi:type="dcterms:W3CDTF">2026-10-01T03:23:07Z</dcterms:modified>
</cp:coreProperties>
</file>